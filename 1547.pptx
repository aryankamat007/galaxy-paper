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4" r:id="rId8"/>
    <p:sldId id="265" r:id="rId9"/>
    <p:sldId id="266" r:id="rId10"/>
    <p:sldId id="268" r:id="rId11"/>
    <p:sldId id="267"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8" d="100"/>
          <a:sy n="48" d="100"/>
        </p:scale>
        <p:origin x="67" y="8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5516D7-1BE4-42FF-915C-DF82BCB40BA1}" type="datetimeFigureOut">
              <a:rPr lang="en-US" smtClean="0"/>
              <a:t>3/17/2024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540266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3/17/2024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15123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5516D7-1BE4-42FF-915C-DF82BCB40BA1}" type="datetimeFigureOut">
              <a:rPr lang="en-US" smtClean="0"/>
              <a:t>3/17/2024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243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5516D7-1BE4-42FF-915C-DF82BCB40BA1}" type="datetimeFigureOut">
              <a:rPr lang="en-US" smtClean="0"/>
              <a:t>3/17/2024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69725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516D7-1BE4-42FF-915C-DF82BCB40BA1}" type="datetimeFigureOut">
              <a:rPr lang="en-US" smtClean="0"/>
              <a:t>3/17/2024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54221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5516D7-1BE4-42FF-915C-DF82BCB40BA1}" type="datetimeFigureOut">
              <a:rPr lang="en-US" smtClean="0"/>
              <a:t>3/17/2024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93079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516D7-1BE4-42FF-915C-DF82BCB40BA1}" type="datetimeFigureOut">
              <a:rPr lang="en-US" smtClean="0"/>
              <a:t>3/17/2024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877026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3/17/2024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496747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3/17/2024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827731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3/17/2024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74064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3/17/2024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449270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516D7-1BE4-42FF-915C-DF82BCB40BA1}" type="datetimeFigureOut">
              <a:rPr lang="en-US" smtClean="0"/>
              <a:t>3/17/2024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4498D-634D-45F6-B65F-DB7A81CF5FF8}" type="slidenum">
              <a:rPr lang="en-US" smtClean="0"/>
              <a:t>‹#›</a:t>
            </a:fld>
            <a:endParaRPr lang="en-US"/>
          </a:p>
        </p:txBody>
      </p:sp>
    </p:spTree>
    <p:extLst>
      <p:ext uri="{BB962C8B-B14F-4D97-AF65-F5344CB8AC3E}">
        <p14:creationId xmlns:p14="http://schemas.microsoft.com/office/powerpoint/2010/main" val="2151769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11828" y="109299"/>
            <a:ext cx="9527177" cy="2387600"/>
          </a:xfrm>
        </p:spPr>
        <p:txBody>
          <a:bodyPr>
            <a:normAutofit/>
          </a:bodyPr>
          <a:lstStyle/>
          <a:p>
            <a:r>
              <a:rPr lang="en-US" sz="4000" b="1" dirty="0">
                <a:solidFill>
                  <a:srgbClr val="C00000"/>
                </a:solidFill>
                <a:effectLst>
                  <a:outerShdw blurRad="38100" dist="38100" dir="2700000" algn="tl">
                    <a:srgbClr val="000000">
                      <a:alpha val="43137"/>
                    </a:srgbClr>
                  </a:outerShdw>
                </a:effectLst>
              </a:rPr>
              <a:t> 9</a:t>
            </a:r>
            <a:r>
              <a:rPr lang="en-US" sz="4000" b="1" baseline="30000" dirty="0">
                <a:solidFill>
                  <a:srgbClr val="C00000"/>
                </a:solidFill>
                <a:effectLst>
                  <a:outerShdw blurRad="38100" dist="38100" dir="2700000" algn="tl">
                    <a:srgbClr val="000000">
                      <a:alpha val="43137"/>
                    </a:srgbClr>
                  </a:outerShdw>
                </a:effectLst>
              </a:rPr>
              <a:t>th</a:t>
            </a:r>
            <a:r>
              <a:rPr lang="en-US" sz="4000" b="1" dirty="0">
                <a:solidFill>
                  <a:srgbClr val="C00000"/>
                </a:solidFill>
                <a:effectLst>
                  <a:outerShdw blurRad="38100" dist="38100" dir="2700000" algn="tl">
                    <a:srgbClr val="000000">
                      <a:alpha val="43137"/>
                    </a:srgbClr>
                  </a:outerShdw>
                </a:effectLst>
              </a:rPr>
              <a:t> International Conference for Convergence in Technology</a:t>
            </a:r>
            <a:br>
              <a:rPr lang="en-US" sz="4000" b="1" dirty="0">
                <a:solidFill>
                  <a:srgbClr val="C00000"/>
                </a:solidFill>
                <a:effectLst>
                  <a:outerShdw blurRad="38100" dist="38100" dir="2700000" algn="tl">
                    <a:srgbClr val="000000">
                      <a:alpha val="43137"/>
                    </a:srgbClr>
                  </a:outerShdw>
                </a:effectLst>
              </a:rPr>
            </a:br>
            <a:r>
              <a:rPr lang="en-US" sz="4000" b="1" dirty="0">
                <a:solidFill>
                  <a:srgbClr val="00B050"/>
                </a:solidFill>
                <a:effectLst>
                  <a:outerShdw blurRad="38100" dist="38100" dir="2700000" algn="tl">
                    <a:srgbClr val="000000">
                      <a:alpha val="43137"/>
                    </a:srgbClr>
                  </a:outerShdw>
                </a:effectLst>
              </a:rPr>
              <a:t>(9</a:t>
            </a:r>
            <a:r>
              <a:rPr lang="en-US" sz="4000" b="1" baseline="30000" dirty="0">
                <a:solidFill>
                  <a:srgbClr val="00B050"/>
                </a:solidFill>
                <a:effectLst>
                  <a:outerShdw blurRad="38100" dist="38100" dir="2700000" algn="tl">
                    <a:srgbClr val="000000">
                      <a:alpha val="43137"/>
                    </a:srgbClr>
                  </a:outerShdw>
                </a:effectLst>
              </a:rPr>
              <a:t>th</a:t>
            </a:r>
            <a:r>
              <a:rPr lang="en-US" sz="4000" b="1" dirty="0">
                <a:solidFill>
                  <a:srgbClr val="00B050"/>
                </a:solidFill>
                <a:effectLst>
                  <a:outerShdw blurRad="38100" dist="38100" dir="2700000" algn="tl">
                    <a:srgbClr val="000000">
                      <a:alpha val="43137"/>
                    </a:srgbClr>
                  </a:outerShdw>
                </a:effectLst>
              </a:rPr>
              <a:t> I2CT 2024)</a:t>
            </a:r>
          </a:p>
        </p:txBody>
      </p:sp>
      <p:sp>
        <p:nvSpPr>
          <p:cNvPr id="3" name="Subtitle 2"/>
          <p:cNvSpPr>
            <a:spLocks noGrp="1"/>
          </p:cNvSpPr>
          <p:nvPr>
            <p:ph type="subTitle" idx="1"/>
          </p:nvPr>
        </p:nvSpPr>
        <p:spPr>
          <a:xfrm>
            <a:off x="1409928" y="2496899"/>
            <a:ext cx="10210801" cy="3890838"/>
          </a:xfrm>
        </p:spPr>
        <p:txBody>
          <a:bodyPr>
            <a:normAutofit fontScale="92500" lnSpcReduction="20000"/>
          </a:bodyPr>
          <a:lstStyle/>
          <a:p>
            <a:r>
              <a:rPr lang="en-US" sz="3500" b="1" dirty="0">
                <a:latin typeface="Times New Roman" panose="02020603050405020304" pitchFamily="18" charset="0"/>
                <a:cs typeface="Times New Roman" panose="02020603050405020304" pitchFamily="18" charset="0"/>
              </a:rPr>
              <a:t>Galaxy Type Classification With Sub-categorization Using Deep Learning Framework</a:t>
            </a:r>
            <a:br>
              <a:rPr lang="en-GB" dirty="0"/>
            </a:br>
            <a:endParaRPr lang="en-GB" dirty="0"/>
          </a:p>
          <a:p>
            <a:r>
              <a:rPr lang="en-GB" b="1" spc="-1" dirty="0">
                <a:solidFill>
                  <a:srgbClr val="4C4C4C"/>
                </a:solidFill>
                <a:latin typeface="Arial"/>
              </a:rPr>
              <a:t>Paper ID: 1547</a:t>
            </a:r>
          </a:p>
          <a:p>
            <a:endParaRPr lang="en-GB" b="1" spc="-1" dirty="0">
              <a:solidFill>
                <a:srgbClr val="4C4C4C"/>
              </a:solidFill>
              <a:latin typeface="Arial"/>
            </a:endParaRPr>
          </a:p>
          <a:p>
            <a:pPr algn="l"/>
            <a:r>
              <a:rPr lang="en-US" dirty="0"/>
              <a:t>	Aryan Kamat 				aryankamat03@gmail.com</a:t>
            </a:r>
          </a:p>
          <a:p>
            <a:pPr algn="l"/>
            <a:r>
              <a:rPr lang="en-US" dirty="0"/>
              <a:t>	Nitish Kumar Pathak 			4nitishkr@gmail.com</a:t>
            </a:r>
          </a:p>
          <a:p>
            <a:pPr algn="l"/>
            <a:r>
              <a:rPr lang="en-US" dirty="0"/>
              <a:t>	Aditya </a:t>
            </a:r>
            <a:r>
              <a:rPr lang="en-US" dirty="0" err="1"/>
              <a:t>Phatak</a:t>
            </a:r>
            <a:r>
              <a:rPr lang="en-US" dirty="0"/>
              <a:t>				adiphatak21@gmail.com</a:t>
            </a:r>
          </a:p>
          <a:p>
            <a:pPr algn="l"/>
            <a:r>
              <a:rPr lang="en-US" dirty="0"/>
              <a:t>	Akash Kulkarni				akash.Kulkarni@kletech.ac.in</a:t>
            </a:r>
          </a:p>
          <a:p>
            <a:pPr algn="l"/>
            <a:r>
              <a:rPr lang="en-US" dirty="0"/>
              <a:t>	Kaushik </a:t>
            </a:r>
            <a:r>
              <a:rPr lang="en-US" dirty="0" err="1"/>
              <a:t>Mallibhat</a:t>
            </a:r>
            <a:r>
              <a:rPr lang="en-US" dirty="0"/>
              <a:t> 			kaushik@kletech.ac.in</a:t>
            </a:r>
          </a:p>
          <a:p>
            <a:pPr algn="l"/>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1724" y="5637951"/>
            <a:ext cx="2370276" cy="1110750"/>
          </a:xfrm>
          <a:prstGeom prst="rect">
            <a:avLst/>
          </a:prstGeom>
        </p:spPr>
      </p:pic>
      <p:pic>
        <p:nvPicPr>
          <p:cNvPr id="6" name="Picture 5">
            <a:extLst>
              <a:ext uri="{FF2B5EF4-FFF2-40B4-BE49-F238E27FC236}">
                <a16:creationId xmlns:a16="http://schemas.microsoft.com/office/drawing/2014/main" id="{478AED91-597A-80A6-E766-9109701CEE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086" y="370564"/>
            <a:ext cx="2082784" cy="729367"/>
          </a:xfrm>
          <a:prstGeom prst="rect">
            <a:avLst/>
          </a:prstGeom>
        </p:spPr>
      </p:pic>
    </p:spTree>
    <p:extLst>
      <p:ext uri="{BB962C8B-B14F-4D97-AF65-F5344CB8AC3E}">
        <p14:creationId xmlns:p14="http://schemas.microsoft.com/office/powerpoint/2010/main" val="89894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DE72-0872-4171-BEEF-9BAE6588BA3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Contents </a:t>
            </a:r>
          </a:p>
        </p:txBody>
      </p:sp>
      <p:sp>
        <p:nvSpPr>
          <p:cNvPr id="3" name="Content Placeholder 2">
            <a:extLst>
              <a:ext uri="{FF2B5EF4-FFF2-40B4-BE49-F238E27FC236}">
                <a16:creationId xmlns:a16="http://schemas.microsoft.com/office/drawing/2014/main" id="{79AE2F9A-0380-43B0-93E1-9FF6B382B22C}"/>
              </a:ext>
            </a:extLst>
          </p:cNvPr>
          <p:cNvSpPr>
            <a:spLocks noGrp="1"/>
          </p:cNvSpPr>
          <p:nvPr>
            <p:ph idx="1"/>
          </p:nvPr>
        </p:nvSpPr>
        <p:spPr/>
        <p:txBody>
          <a:bodyPr/>
          <a:lstStyle/>
          <a:p>
            <a:r>
              <a:rPr lang="en-IN" dirty="0"/>
              <a:t>Introduction</a:t>
            </a:r>
          </a:p>
          <a:p>
            <a:r>
              <a:rPr lang="en-IN" dirty="0"/>
              <a:t>Literature Survey</a:t>
            </a:r>
          </a:p>
          <a:p>
            <a:r>
              <a:rPr lang="en-IN" dirty="0"/>
              <a:t>Dataset </a:t>
            </a:r>
          </a:p>
          <a:p>
            <a:r>
              <a:rPr lang="en-IN" dirty="0"/>
              <a:t>Block diagram</a:t>
            </a:r>
          </a:p>
          <a:p>
            <a:r>
              <a:rPr lang="en-IN" dirty="0"/>
              <a:t>Working of the model </a:t>
            </a:r>
          </a:p>
          <a:p>
            <a:r>
              <a:rPr lang="en-IN" dirty="0"/>
              <a:t>Results </a:t>
            </a:r>
          </a:p>
          <a:p>
            <a:r>
              <a:rPr lang="en-IN" dirty="0"/>
              <a:t>Conclusion </a:t>
            </a:r>
          </a:p>
          <a:p>
            <a:pPr marL="0" indent="0">
              <a:buNone/>
            </a:pPr>
            <a:endParaRPr lang="en-IN" dirty="0"/>
          </a:p>
        </p:txBody>
      </p:sp>
    </p:spTree>
    <p:extLst>
      <p:ext uri="{BB962C8B-B14F-4D97-AF65-F5344CB8AC3E}">
        <p14:creationId xmlns:p14="http://schemas.microsoft.com/office/powerpoint/2010/main" val="2777604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4F597-57DC-4C6C-AE25-EE41E7CD0FB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3F3D77D5-6753-41BD-8777-76B83AA6BEF6}"/>
              </a:ext>
            </a:extLst>
          </p:cNvPr>
          <p:cNvSpPr>
            <a:spLocks noGrp="1"/>
          </p:cNvSpPr>
          <p:nvPr>
            <p:ph idx="1"/>
          </p:nvPr>
        </p:nvSpPr>
        <p:spPr>
          <a:xfrm>
            <a:off x="966537" y="1690688"/>
            <a:ext cx="10515600" cy="4351338"/>
          </a:xfrm>
        </p:spPr>
        <p:txBody>
          <a:bodyPr>
            <a:normAutofit/>
          </a:bodyPr>
          <a:lstStyle/>
          <a:p>
            <a:r>
              <a:rPr lang="en-US" dirty="0"/>
              <a:t>This paper presents a robust approach to galaxy categorization utilizing machine learning and image processing techniques, emphasizing Galaxy Zoo and Galaxy10 datasets.  At the same time, image pre-processing procedures ensure dataset standardization indicating its usefulness in categorizing galaxies into Elliptical, Spiral, and Irregular types, as well as detailed subclassifications such as E0, E3, E7 for elliptical galaxies and Normal Spiral, Barred Spiral for spiral galaxies. The subclassification models use image processing to extract morphological traits, demonstrating the possibility for automated study of astronomical information and contributing to advances in astrophysics research. </a:t>
            </a:r>
            <a:endParaRPr lang="en-IN" dirty="0"/>
          </a:p>
        </p:txBody>
      </p:sp>
    </p:spTree>
    <p:extLst>
      <p:ext uri="{BB962C8B-B14F-4D97-AF65-F5344CB8AC3E}">
        <p14:creationId xmlns:p14="http://schemas.microsoft.com/office/powerpoint/2010/main" val="101461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E7F99-6A42-47A4-9E5B-06AA05490EE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Literature Survey </a:t>
            </a:r>
          </a:p>
        </p:txBody>
      </p:sp>
      <p:sp>
        <p:nvSpPr>
          <p:cNvPr id="3" name="Content Placeholder 2">
            <a:extLst>
              <a:ext uri="{FF2B5EF4-FFF2-40B4-BE49-F238E27FC236}">
                <a16:creationId xmlns:a16="http://schemas.microsoft.com/office/drawing/2014/main" id="{10D47E6E-3CC8-4114-8DFE-A6D85BB70B22}"/>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116649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AEE98-9363-4EBB-A5D4-4BD55EA9B67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Dataset</a:t>
            </a:r>
            <a:r>
              <a:rPr lang="en-IN" dirty="0"/>
              <a:t> </a:t>
            </a:r>
          </a:p>
        </p:txBody>
      </p:sp>
      <p:sp>
        <p:nvSpPr>
          <p:cNvPr id="3" name="Content Placeholder 2">
            <a:extLst>
              <a:ext uri="{FF2B5EF4-FFF2-40B4-BE49-F238E27FC236}">
                <a16:creationId xmlns:a16="http://schemas.microsoft.com/office/drawing/2014/main" id="{DC6C531E-645B-4DB0-B878-25A82E651925}"/>
              </a:ext>
            </a:extLst>
          </p:cNvPr>
          <p:cNvSpPr>
            <a:spLocks noGrp="1"/>
          </p:cNvSpPr>
          <p:nvPr>
            <p:ph idx="1"/>
          </p:nvPr>
        </p:nvSpPr>
        <p:spPr/>
        <p:txBody>
          <a:bodyPr/>
          <a:lstStyle/>
          <a:p>
            <a:pPr marL="0" indent="0">
              <a:buNone/>
            </a:pPr>
            <a:r>
              <a:rPr lang="en-IN" dirty="0"/>
              <a:t>For training and testing the model, we used the </a:t>
            </a:r>
            <a:r>
              <a:rPr lang="en-US" dirty="0"/>
              <a:t>Galaxy Zoo and galaxy10 data sets, which consist of spiral, elliptical, and irregular images in JPEG and PNG formats. This section briefly describes the labeled dataset we generate from the Galaxy Zoo and Galaxy 10 </a:t>
            </a:r>
            <a:r>
              <a:rPr lang="x-none" dirty="0"/>
              <a:t>DECaLS</a:t>
            </a:r>
            <a:r>
              <a:rPr lang="en-US" dirty="0"/>
              <a:t> datasets. For the training dataset, we used around 1500 images for elliptical galaxies, which consist of 500 images of E0, 500 images of E3 and, 500 of E7 elliptical galaxies, respectively, 1500 images of a spiral galaxy, which have 750 images of a typical spiral galaxy, and 750 images of the barred spiral galaxy, and 1000 images of irregular galaxy. We used 400 images of each spiral galaxy, elliptical galaxy, and irregular galaxy labeled dataset for testing purposes.</a:t>
            </a:r>
            <a:endParaRPr lang="en-IN" dirty="0"/>
          </a:p>
          <a:p>
            <a:pPr marL="0" indent="0">
              <a:buNone/>
            </a:pPr>
            <a:endParaRPr lang="en-IN" dirty="0"/>
          </a:p>
        </p:txBody>
      </p:sp>
    </p:spTree>
    <p:extLst>
      <p:ext uri="{BB962C8B-B14F-4D97-AF65-F5344CB8AC3E}">
        <p14:creationId xmlns:p14="http://schemas.microsoft.com/office/powerpoint/2010/main" val="97160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104C-95AB-41D2-ACB6-3D8034D818C4}"/>
              </a:ext>
            </a:extLst>
          </p:cNvPr>
          <p:cNvSpPr>
            <a:spLocks noGrp="1"/>
          </p:cNvSpPr>
          <p:nvPr>
            <p:ph type="title"/>
          </p:nvPr>
        </p:nvSpPr>
        <p:spPr>
          <a:xfrm>
            <a:off x="838200" y="365126"/>
            <a:ext cx="10343147" cy="773864"/>
          </a:xfrm>
        </p:spPr>
        <p:txBody>
          <a:bodyPr/>
          <a:lstStyle/>
          <a:p>
            <a:r>
              <a:rPr lang="en-IN" b="1" dirty="0">
                <a:latin typeface="Times New Roman" panose="02020603050405020304" pitchFamily="18" charset="0"/>
                <a:cs typeface="Times New Roman" panose="02020603050405020304" pitchFamily="18" charset="0"/>
              </a:rPr>
              <a:t>Block Diagram </a:t>
            </a:r>
          </a:p>
        </p:txBody>
      </p:sp>
      <p:pic>
        <p:nvPicPr>
          <p:cNvPr id="4" name="Content Placeholder 3">
            <a:extLst>
              <a:ext uri="{FF2B5EF4-FFF2-40B4-BE49-F238E27FC236}">
                <a16:creationId xmlns:a16="http://schemas.microsoft.com/office/drawing/2014/main" id="{352A3993-F5D8-48E0-AD09-8D52C24D0CC6}"/>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659861" y="1264150"/>
            <a:ext cx="4698076" cy="5457491"/>
          </a:xfrm>
          <a:prstGeom prst="rect">
            <a:avLst/>
          </a:prstGeom>
        </p:spPr>
      </p:pic>
    </p:spTree>
    <p:extLst>
      <p:ext uri="{BB962C8B-B14F-4D97-AF65-F5344CB8AC3E}">
        <p14:creationId xmlns:p14="http://schemas.microsoft.com/office/powerpoint/2010/main" val="3105890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44FD-2073-4151-9895-94526AABDFCD}"/>
              </a:ext>
            </a:extLst>
          </p:cNvPr>
          <p:cNvSpPr>
            <a:spLocks noGrp="1"/>
          </p:cNvSpPr>
          <p:nvPr>
            <p:ph type="title"/>
          </p:nvPr>
        </p:nvSpPr>
        <p:spPr>
          <a:xfrm>
            <a:off x="391088" y="10672"/>
            <a:ext cx="10515600" cy="1325563"/>
          </a:xfrm>
        </p:spPr>
        <p:txBody>
          <a:bodyPr/>
          <a:lstStyle/>
          <a:p>
            <a:r>
              <a:rPr lang="en-IN" b="1" dirty="0">
                <a:latin typeface="Times New Roman" panose="02020603050405020304" pitchFamily="18" charset="0"/>
                <a:cs typeface="Times New Roman" panose="02020603050405020304" pitchFamily="18" charset="0"/>
              </a:rPr>
              <a:t>Results </a:t>
            </a:r>
          </a:p>
        </p:txBody>
      </p:sp>
      <p:pic>
        <p:nvPicPr>
          <p:cNvPr id="19" name="Content Placeholder 18">
            <a:extLst>
              <a:ext uri="{FF2B5EF4-FFF2-40B4-BE49-F238E27FC236}">
                <a16:creationId xmlns:a16="http://schemas.microsoft.com/office/drawing/2014/main" id="{9212AE73-580D-4A75-B740-D0E93A5143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625" y="1115130"/>
            <a:ext cx="2913586" cy="2940773"/>
          </a:xfrm>
        </p:spPr>
      </p:pic>
      <p:pic>
        <p:nvPicPr>
          <p:cNvPr id="21" name="Picture 20">
            <a:extLst>
              <a:ext uri="{FF2B5EF4-FFF2-40B4-BE49-F238E27FC236}">
                <a16:creationId xmlns:a16="http://schemas.microsoft.com/office/drawing/2014/main" id="{ABD6191F-DD5C-463A-9BE7-4DB030888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9120" y="1191856"/>
            <a:ext cx="8652880" cy="2787323"/>
          </a:xfrm>
          <a:prstGeom prst="rect">
            <a:avLst/>
          </a:prstGeom>
        </p:spPr>
      </p:pic>
      <p:sp>
        <p:nvSpPr>
          <p:cNvPr id="23" name="TextBox 22">
            <a:extLst>
              <a:ext uri="{FF2B5EF4-FFF2-40B4-BE49-F238E27FC236}">
                <a16:creationId xmlns:a16="http://schemas.microsoft.com/office/drawing/2014/main" id="{48AE7866-4646-444C-B155-8EF1D4D09394}"/>
              </a:ext>
            </a:extLst>
          </p:cNvPr>
          <p:cNvSpPr txBox="1"/>
          <p:nvPr/>
        </p:nvSpPr>
        <p:spPr>
          <a:xfrm>
            <a:off x="0" y="4476483"/>
            <a:ext cx="3898232" cy="830997"/>
          </a:xfrm>
          <a:prstGeom prst="rect">
            <a:avLst/>
          </a:prstGeom>
          <a:noFill/>
        </p:spPr>
        <p:txBody>
          <a:bodyPr wrap="square" rtlCol="0">
            <a:spAutoFit/>
          </a:bodyPr>
          <a:lstStyle/>
          <a:p>
            <a:r>
              <a:rPr lang="en-US" sz="2400" dirty="0"/>
              <a:t>The predicted galaxy is elliptical</a:t>
            </a:r>
            <a:endParaRPr lang="en-IN" sz="2400" dirty="0"/>
          </a:p>
        </p:txBody>
      </p:sp>
      <p:sp>
        <p:nvSpPr>
          <p:cNvPr id="24" name="TextBox 23">
            <a:extLst>
              <a:ext uri="{FF2B5EF4-FFF2-40B4-BE49-F238E27FC236}">
                <a16:creationId xmlns:a16="http://schemas.microsoft.com/office/drawing/2014/main" id="{B5748BF4-0BD0-4261-9F74-528074700867}"/>
              </a:ext>
            </a:extLst>
          </p:cNvPr>
          <p:cNvSpPr txBox="1"/>
          <p:nvPr/>
        </p:nvSpPr>
        <p:spPr>
          <a:xfrm>
            <a:off x="6418390" y="4707315"/>
            <a:ext cx="3750759" cy="461665"/>
          </a:xfrm>
          <a:prstGeom prst="rect">
            <a:avLst/>
          </a:prstGeom>
          <a:noFill/>
        </p:spPr>
        <p:txBody>
          <a:bodyPr wrap="square" rtlCol="0">
            <a:spAutoFit/>
          </a:bodyPr>
          <a:lstStyle/>
          <a:p>
            <a:r>
              <a:rPr lang="en-US" sz="2400" dirty="0"/>
              <a:t>Subclassified as E0 type </a:t>
            </a:r>
            <a:endParaRPr lang="en-IN" sz="2400" dirty="0"/>
          </a:p>
        </p:txBody>
      </p:sp>
    </p:spTree>
    <p:extLst>
      <p:ext uri="{BB962C8B-B14F-4D97-AF65-F5344CB8AC3E}">
        <p14:creationId xmlns:p14="http://schemas.microsoft.com/office/powerpoint/2010/main" val="1694650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5DB074-78B4-43F6-B021-2AAA94378B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718" y="1248656"/>
            <a:ext cx="2788824" cy="2854598"/>
          </a:xfrm>
        </p:spPr>
      </p:pic>
      <p:pic>
        <p:nvPicPr>
          <p:cNvPr id="7" name="Picture 6">
            <a:extLst>
              <a:ext uri="{FF2B5EF4-FFF2-40B4-BE49-F238E27FC236}">
                <a16:creationId xmlns:a16="http://schemas.microsoft.com/office/drawing/2014/main" id="{1D7F57F8-F031-4768-AD74-EED792055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7066" y="1361438"/>
            <a:ext cx="8141118" cy="2629035"/>
          </a:xfrm>
          <a:prstGeom prst="rect">
            <a:avLst/>
          </a:prstGeom>
        </p:spPr>
      </p:pic>
      <p:sp>
        <p:nvSpPr>
          <p:cNvPr id="8" name="TextBox 7">
            <a:extLst>
              <a:ext uri="{FF2B5EF4-FFF2-40B4-BE49-F238E27FC236}">
                <a16:creationId xmlns:a16="http://schemas.microsoft.com/office/drawing/2014/main" id="{66E3B84D-E4AD-4BB2-A15A-AB07EE73C039}"/>
              </a:ext>
            </a:extLst>
          </p:cNvPr>
          <p:cNvSpPr txBox="1"/>
          <p:nvPr/>
        </p:nvSpPr>
        <p:spPr>
          <a:xfrm>
            <a:off x="318503" y="4398117"/>
            <a:ext cx="4295545" cy="461665"/>
          </a:xfrm>
          <a:prstGeom prst="rect">
            <a:avLst/>
          </a:prstGeom>
          <a:noFill/>
        </p:spPr>
        <p:txBody>
          <a:bodyPr wrap="square" rtlCol="0">
            <a:spAutoFit/>
          </a:bodyPr>
          <a:lstStyle/>
          <a:p>
            <a:r>
              <a:rPr lang="en-US" sz="2400" dirty="0"/>
              <a:t>The predicted galaxy is elliptical</a:t>
            </a:r>
            <a:endParaRPr lang="en-IN" sz="2400" dirty="0"/>
          </a:p>
        </p:txBody>
      </p:sp>
      <p:sp>
        <p:nvSpPr>
          <p:cNvPr id="9" name="TextBox 8">
            <a:extLst>
              <a:ext uri="{FF2B5EF4-FFF2-40B4-BE49-F238E27FC236}">
                <a16:creationId xmlns:a16="http://schemas.microsoft.com/office/drawing/2014/main" id="{123BEA19-3AB1-447B-94C2-C41455193496}"/>
              </a:ext>
            </a:extLst>
          </p:cNvPr>
          <p:cNvSpPr txBox="1"/>
          <p:nvPr/>
        </p:nvSpPr>
        <p:spPr>
          <a:xfrm>
            <a:off x="7321280" y="4398117"/>
            <a:ext cx="3192379" cy="461665"/>
          </a:xfrm>
          <a:prstGeom prst="rect">
            <a:avLst/>
          </a:prstGeom>
          <a:noFill/>
        </p:spPr>
        <p:txBody>
          <a:bodyPr wrap="square" rtlCol="0">
            <a:spAutoFit/>
          </a:bodyPr>
          <a:lstStyle/>
          <a:p>
            <a:r>
              <a:rPr lang="en-US" sz="2400" dirty="0"/>
              <a:t>Subclassified as E3 type </a:t>
            </a:r>
            <a:endParaRPr lang="en-IN" sz="2400" i="1" dirty="0"/>
          </a:p>
        </p:txBody>
      </p:sp>
    </p:spTree>
    <p:extLst>
      <p:ext uri="{BB962C8B-B14F-4D97-AF65-F5344CB8AC3E}">
        <p14:creationId xmlns:p14="http://schemas.microsoft.com/office/powerpoint/2010/main" val="7336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5E3E9503-4BB4-4F47-A364-7BA9E88545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9057" y="1787352"/>
            <a:ext cx="2987946" cy="3011072"/>
          </a:xfrm>
        </p:spPr>
      </p:pic>
      <p:pic>
        <p:nvPicPr>
          <p:cNvPr id="11" name="Picture 10">
            <a:extLst>
              <a:ext uri="{FF2B5EF4-FFF2-40B4-BE49-F238E27FC236}">
                <a16:creationId xmlns:a16="http://schemas.microsoft.com/office/drawing/2014/main" id="{9E5F9382-B1C2-46A1-A82D-18D6C46C6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2368" y="2032462"/>
            <a:ext cx="8141118" cy="2635385"/>
          </a:xfrm>
          <a:prstGeom prst="rect">
            <a:avLst/>
          </a:prstGeom>
        </p:spPr>
      </p:pic>
      <p:sp>
        <p:nvSpPr>
          <p:cNvPr id="12" name="TextBox 11">
            <a:extLst>
              <a:ext uri="{FF2B5EF4-FFF2-40B4-BE49-F238E27FC236}">
                <a16:creationId xmlns:a16="http://schemas.microsoft.com/office/drawing/2014/main" id="{30334596-FA02-4A2E-88FA-7A30CD926BEE}"/>
              </a:ext>
            </a:extLst>
          </p:cNvPr>
          <p:cNvSpPr txBox="1"/>
          <p:nvPr/>
        </p:nvSpPr>
        <p:spPr>
          <a:xfrm>
            <a:off x="204547" y="5146813"/>
            <a:ext cx="4431622" cy="461665"/>
          </a:xfrm>
          <a:prstGeom prst="rect">
            <a:avLst/>
          </a:prstGeom>
          <a:noFill/>
        </p:spPr>
        <p:txBody>
          <a:bodyPr wrap="square" rtlCol="0">
            <a:spAutoFit/>
          </a:bodyPr>
          <a:lstStyle/>
          <a:p>
            <a:r>
              <a:rPr lang="en-US" sz="2400" dirty="0"/>
              <a:t>The predicted galaxy is elliptical</a:t>
            </a:r>
            <a:endParaRPr lang="en-IN" sz="2400" dirty="0"/>
          </a:p>
        </p:txBody>
      </p:sp>
      <p:sp>
        <p:nvSpPr>
          <p:cNvPr id="13" name="TextBox 12">
            <a:extLst>
              <a:ext uri="{FF2B5EF4-FFF2-40B4-BE49-F238E27FC236}">
                <a16:creationId xmlns:a16="http://schemas.microsoft.com/office/drawing/2014/main" id="{6F1E8084-A54A-4511-A1F4-615644E8EE4C}"/>
              </a:ext>
            </a:extLst>
          </p:cNvPr>
          <p:cNvSpPr txBox="1"/>
          <p:nvPr/>
        </p:nvSpPr>
        <p:spPr>
          <a:xfrm>
            <a:off x="7230971" y="5239146"/>
            <a:ext cx="3192379" cy="461665"/>
          </a:xfrm>
          <a:prstGeom prst="rect">
            <a:avLst/>
          </a:prstGeom>
          <a:noFill/>
        </p:spPr>
        <p:txBody>
          <a:bodyPr wrap="square" rtlCol="0">
            <a:spAutoFit/>
          </a:bodyPr>
          <a:lstStyle/>
          <a:p>
            <a:r>
              <a:rPr lang="en-US" sz="2400" dirty="0"/>
              <a:t>Subclassified as E7 type </a:t>
            </a:r>
            <a:endParaRPr lang="en-IN" sz="2400" dirty="0"/>
          </a:p>
        </p:txBody>
      </p:sp>
    </p:spTree>
    <p:extLst>
      <p:ext uri="{BB962C8B-B14F-4D97-AF65-F5344CB8AC3E}">
        <p14:creationId xmlns:p14="http://schemas.microsoft.com/office/powerpoint/2010/main" val="136363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E7527-69E0-415E-A921-7E6923624BD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0890129-550B-4A1F-AF60-25DE3AFAC6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59656"/>
            <a:ext cx="3342383" cy="3410702"/>
          </a:xfrm>
        </p:spPr>
      </p:pic>
      <p:pic>
        <p:nvPicPr>
          <p:cNvPr id="7" name="Picture 6">
            <a:extLst>
              <a:ext uri="{FF2B5EF4-FFF2-40B4-BE49-F238E27FC236}">
                <a16:creationId xmlns:a16="http://schemas.microsoft.com/office/drawing/2014/main" id="{4D232FB4-3B09-423A-819A-D60AFCB2D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095" y="2374965"/>
            <a:ext cx="6364128" cy="3095393"/>
          </a:xfrm>
          <a:prstGeom prst="rect">
            <a:avLst/>
          </a:prstGeom>
        </p:spPr>
      </p:pic>
      <p:sp>
        <p:nvSpPr>
          <p:cNvPr id="8" name="TextBox 7">
            <a:extLst>
              <a:ext uri="{FF2B5EF4-FFF2-40B4-BE49-F238E27FC236}">
                <a16:creationId xmlns:a16="http://schemas.microsoft.com/office/drawing/2014/main" id="{37A7FDC3-B94C-49AF-96D6-A494606A19D6}"/>
              </a:ext>
            </a:extLst>
          </p:cNvPr>
          <p:cNvSpPr txBox="1"/>
          <p:nvPr/>
        </p:nvSpPr>
        <p:spPr>
          <a:xfrm>
            <a:off x="7058526" y="5809002"/>
            <a:ext cx="3910263" cy="369332"/>
          </a:xfrm>
          <a:prstGeom prst="rect">
            <a:avLst/>
          </a:prstGeom>
          <a:noFill/>
        </p:spPr>
        <p:txBody>
          <a:bodyPr wrap="square" rtlCol="0">
            <a:spAutoFit/>
          </a:bodyPr>
          <a:lstStyle/>
          <a:p>
            <a:r>
              <a:rPr lang="en-IN" dirty="0"/>
              <a:t>Subclassified as Normal Spiral type </a:t>
            </a:r>
          </a:p>
        </p:txBody>
      </p:sp>
      <p:sp>
        <p:nvSpPr>
          <p:cNvPr id="9" name="TextBox 8">
            <a:extLst>
              <a:ext uri="{FF2B5EF4-FFF2-40B4-BE49-F238E27FC236}">
                <a16:creationId xmlns:a16="http://schemas.microsoft.com/office/drawing/2014/main" id="{2A42B766-3AB5-4B80-A162-01C24DDF9A89}"/>
              </a:ext>
            </a:extLst>
          </p:cNvPr>
          <p:cNvSpPr txBox="1"/>
          <p:nvPr/>
        </p:nvSpPr>
        <p:spPr>
          <a:xfrm>
            <a:off x="1387642" y="5807060"/>
            <a:ext cx="2945341" cy="369332"/>
          </a:xfrm>
          <a:prstGeom prst="rect">
            <a:avLst/>
          </a:prstGeom>
          <a:noFill/>
        </p:spPr>
        <p:txBody>
          <a:bodyPr wrap="square" rtlCol="0">
            <a:spAutoFit/>
          </a:bodyPr>
          <a:lstStyle/>
          <a:p>
            <a:r>
              <a:rPr lang="en-IN" dirty="0"/>
              <a:t>Predicted galaxy is spiral</a:t>
            </a:r>
          </a:p>
        </p:txBody>
      </p:sp>
    </p:spTree>
    <p:extLst>
      <p:ext uri="{BB962C8B-B14F-4D97-AF65-F5344CB8AC3E}">
        <p14:creationId xmlns:p14="http://schemas.microsoft.com/office/powerpoint/2010/main" val="29441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96BE7-400D-47F0-9FAA-AD9A37643B3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1786587-BF17-46E0-BC19-7B6749B717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08529"/>
            <a:ext cx="3036192" cy="3064524"/>
          </a:xfrm>
        </p:spPr>
      </p:pic>
      <p:pic>
        <p:nvPicPr>
          <p:cNvPr id="7" name="Picture 6">
            <a:extLst>
              <a:ext uri="{FF2B5EF4-FFF2-40B4-BE49-F238E27FC236}">
                <a16:creationId xmlns:a16="http://schemas.microsoft.com/office/drawing/2014/main" id="{766EEA35-1B5B-4BAD-A35F-A4313E7085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9272" y="2037501"/>
            <a:ext cx="6139991" cy="2806579"/>
          </a:xfrm>
          <a:prstGeom prst="rect">
            <a:avLst/>
          </a:prstGeom>
        </p:spPr>
      </p:pic>
      <p:sp>
        <p:nvSpPr>
          <p:cNvPr id="9" name="TextBox 8">
            <a:extLst>
              <a:ext uri="{FF2B5EF4-FFF2-40B4-BE49-F238E27FC236}">
                <a16:creationId xmlns:a16="http://schemas.microsoft.com/office/drawing/2014/main" id="{140C538C-8DD0-438E-986A-2CE3C0B4B997}"/>
              </a:ext>
            </a:extLst>
          </p:cNvPr>
          <p:cNvSpPr txBox="1"/>
          <p:nvPr/>
        </p:nvSpPr>
        <p:spPr>
          <a:xfrm>
            <a:off x="6096000" y="5204108"/>
            <a:ext cx="4662175" cy="461665"/>
          </a:xfrm>
          <a:prstGeom prst="rect">
            <a:avLst/>
          </a:prstGeom>
          <a:noFill/>
        </p:spPr>
        <p:txBody>
          <a:bodyPr wrap="square" rtlCol="0">
            <a:spAutoFit/>
          </a:bodyPr>
          <a:lstStyle/>
          <a:p>
            <a:r>
              <a:rPr lang="en-US" sz="2400" dirty="0"/>
              <a:t>Subclassified as Barred spiral type</a:t>
            </a:r>
            <a:endParaRPr lang="en-IN" sz="2400" dirty="0"/>
          </a:p>
        </p:txBody>
      </p:sp>
      <p:sp>
        <p:nvSpPr>
          <p:cNvPr id="10" name="TextBox 9">
            <a:extLst>
              <a:ext uri="{FF2B5EF4-FFF2-40B4-BE49-F238E27FC236}">
                <a16:creationId xmlns:a16="http://schemas.microsoft.com/office/drawing/2014/main" id="{E9712F8F-625E-42ED-B236-5D3A500991B6}"/>
              </a:ext>
            </a:extLst>
          </p:cNvPr>
          <p:cNvSpPr txBox="1"/>
          <p:nvPr/>
        </p:nvSpPr>
        <p:spPr>
          <a:xfrm>
            <a:off x="1099108" y="5204108"/>
            <a:ext cx="3910164" cy="461665"/>
          </a:xfrm>
          <a:prstGeom prst="rect">
            <a:avLst/>
          </a:prstGeom>
          <a:noFill/>
        </p:spPr>
        <p:txBody>
          <a:bodyPr wrap="square" rtlCol="0">
            <a:spAutoFit/>
          </a:bodyPr>
          <a:lstStyle/>
          <a:p>
            <a:r>
              <a:rPr lang="en-IN" sz="2400" dirty="0"/>
              <a:t>Predicted galaxy is Spiral</a:t>
            </a:r>
          </a:p>
        </p:txBody>
      </p:sp>
    </p:spTree>
    <p:extLst>
      <p:ext uri="{BB962C8B-B14F-4D97-AF65-F5344CB8AC3E}">
        <p14:creationId xmlns:p14="http://schemas.microsoft.com/office/powerpoint/2010/main" val="3464720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52AD-5C29-43F3-841E-63AEA30110C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07CB236-E41B-4A36-9254-460C1E1202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9884" y="2076627"/>
            <a:ext cx="3429000" cy="3461298"/>
          </a:xfrm>
        </p:spPr>
      </p:pic>
      <p:pic>
        <p:nvPicPr>
          <p:cNvPr id="9" name="Picture 8">
            <a:extLst>
              <a:ext uri="{FF2B5EF4-FFF2-40B4-BE49-F238E27FC236}">
                <a16:creationId xmlns:a16="http://schemas.microsoft.com/office/drawing/2014/main" id="{85F49B8D-B8BA-42B2-8CEB-5278AE50E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9621" y="2076627"/>
            <a:ext cx="3510202" cy="3461298"/>
          </a:xfrm>
          <a:prstGeom prst="rect">
            <a:avLst/>
          </a:prstGeom>
        </p:spPr>
      </p:pic>
      <p:sp>
        <p:nvSpPr>
          <p:cNvPr id="10" name="TextBox 9">
            <a:extLst>
              <a:ext uri="{FF2B5EF4-FFF2-40B4-BE49-F238E27FC236}">
                <a16:creationId xmlns:a16="http://schemas.microsoft.com/office/drawing/2014/main" id="{6A4CFF8F-EB2C-4245-985B-8F91FD2FE8E7}"/>
              </a:ext>
            </a:extLst>
          </p:cNvPr>
          <p:cNvSpPr txBox="1"/>
          <p:nvPr/>
        </p:nvSpPr>
        <p:spPr>
          <a:xfrm>
            <a:off x="2253916" y="5923864"/>
            <a:ext cx="7684168" cy="523220"/>
          </a:xfrm>
          <a:prstGeom prst="rect">
            <a:avLst/>
          </a:prstGeom>
          <a:noFill/>
        </p:spPr>
        <p:txBody>
          <a:bodyPr wrap="square" rtlCol="0">
            <a:spAutoFit/>
          </a:bodyPr>
          <a:lstStyle/>
          <a:p>
            <a:pPr algn="ctr"/>
            <a:r>
              <a:rPr lang="en-IN" sz="2800" dirty="0"/>
              <a:t>Predicted galaxy is irregular</a:t>
            </a:r>
          </a:p>
        </p:txBody>
      </p:sp>
    </p:spTree>
    <p:extLst>
      <p:ext uri="{BB962C8B-B14F-4D97-AF65-F5344CB8AC3E}">
        <p14:creationId xmlns:p14="http://schemas.microsoft.com/office/powerpoint/2010/main" val="164197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9775-17E6-4BA5-A49F-C165E854D249}"/>
              </a:ext>
            </a:extLst>
          </p:cNvPr>
          <p:cNvSpPr>
            <a:spLocks noGrp="1"/>
          </p:cNvSpPr>
          <p:nvPr>
            <p:ph type="title"/>
          </p:nvPr>
        </p:nvSpPr>
        <p:spPr>
          <a:xfrm>
            <a:off x="838200" y="365125"/>
            <a:ext cx="10150642" cy="870117"/>
          </a:xfrm>
        </p:spPr>
        <p:txBody>
          <a:bodyPr>
            <a:normAutofit/>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2D8FC44-9B59-483B-8687-A5318553696B}"/>
              </a:ext>
            </a:extLst>
          </p:cNvPr>
          <p:cNvSpPr>
            <a:spLocks noGrp="1"/>
          </p:cNvSpPr>
          <p:nvPr>
            <p:ph idx="1"/>
          </p:nvPr>
        </p:nvSpPr>
        <p:spPr>
          <a:xfrm>
            <a:off x="838200" y="1427747"/>
            <a:ext cx="10150642" cy="4749216"/>
          </a:xfrm>
        </p:spPr>
        <p:txBody>
          <a:bodyPr>
            <a:normAutofit fontScale="92500" lnSpcReduction="20000"/>
          </a:bodyPr>
          <a:lstStyle/>
          <a:p>
            <a:r>
              <a:rPr lang="en-IN" dirty="0"/>
              <a:t>We have shown encouraging results in successfully classifying galaxy photos into multiple categories and subcategories using our implementation of Convolutional Neural Networks utilizing the MobileNetV2 architecture. </a:t>
            </a:r>
          </a:p>
          <a:p>
            <a:r>
              <a:rPr lang="en-IN" dirty="0"/>
              <a:t>With the help of the </a:t>
            </a:r>
            <a:r>
              <a:rPr lang="en-IN" dirty="0" err="1"/>
              <a:t>GalaxyZoo</a:t>
            </a:r>
            <a:r>
              <a:rPr lang="en-IN" dirty="0"/>
              <a:t> dataset and Galaxy10decals, our model could train with an impressive accuracy of 91% on the testing dataset.</a:t>
            </a:r>
          </a:p>
          <a:p>
            <a:r>
              <a:rPr lang="en-IN" dirty="0"/>
              <a:t> To improve the features of our model, we applied image processing and data augmentation techniques. </a:t>
            </a:r>
          </a:p>
          <a:p>
            <a:r>
              <a:rPr lang="en-IN" dirty="0"/>
              <a:t>However, an important limitation was that the irregular class's predictions were skewed in favour of the spiral class when combined with merged and distorted galaxy images were used. To provide reliable and objective model performance, this emphasizes the significance of dataset creation and the necessity of giving differences within particular classes a significant thought.</a:t>
            </a:r>
          </a:p>
          <a:p>
            <a:pPr marL="0" indent="0">
              <a:buNone/>
            </a:pPr>
            <a:endParaRPr lang="en-IN" dirty="0"/>
          </a:p>
        </p:txBody>
      </p:sp>
    </p:spTree>
    <p:extLst>
      <p:ext uri="{BB962C8B-B14F-4D97-AF65-F5344CB8AC3E}">
        <p14:creationId xmlns:p14="http://schemas.microsoft.com/office/powerpoint/2010/main" val="781421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537</Words>
  <Application>Microsoft Office PowerPoint</Application>
  <PresentationFormat>Widescreen</PresentationFormat>
  <Paragraphs>40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 9th International Conference for Convergence in Technology (9th I2CT 2024)</vt:lpstr>
      <vt:lpstr>Contents </vt:lpstr>
      <vt:lpstr>Introduction</vt:lpstr>
      <vt:lpstr>Literature Survey </vt:lpstr>
      <vt:lpstr>Dataset </vt:lpstr>
      <vt:lpstr>Block Diagram </vt:lpstr>
      <vt:lpstr>Results </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Aryan Kamat</cp:lastModifiedBy>
  <cp:revision>15</cp:revision>
  <dcterms:created xsi:type="dcterms:W3CDTF">2021-06-10T05:32:34Z</dcterms:created>
  <dcterms:modified xsi:type="dcterms:W3CDTF">2024-03-17T10:40:37Z</dcterms:modified>
</cp:coreProperties>
</file>